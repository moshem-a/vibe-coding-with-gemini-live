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ooglive-1069070785804.us-central1.run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28016" cy="128016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" kern="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SUMMIT · 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1118585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</a:t>
            </a:r>
            <a:endParaRPr lang="en-US" sz="7600" dirty="0"/>
          </a:p>
          <a:p>
            <a:pPr indent="0" marL="0">
              <a:buNone/>
            </a:pPr>
            <a:r>
              <a:rPr lang="en-US" sz="76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Gemini Live.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502920" y="4297680"/>
            <a:ext cx="990569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in. Voice out. The model doesn't just talk — it drives the product: sketches architectures, generates UIs, calls sub-agents, edits the running app while you speak.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57607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1A73E8">
              <a:alpha val="13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760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scenarios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57607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34A853">
              <a:alpha val="13000"/>
            </a:srgbClr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5760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Cloud Run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57607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9B72CB">
              <a:alpha val="13000"/>
            </a:srgbClr>
          </a:solidFill>
          <a:ln w="12700">
            <a:solidFill>
              <a:srgbClr val="9B7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5760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Hebrew-native voice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with Gemini Live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7437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28016" cy="128016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" kern="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scenarios. One Live API.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5410048" cy="2103120"/>
          </a:xfrm>
          <a:prstGeom prst="rect">
            <a:avLst>
              <a:gd name="adj" fmla="val 5217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94560"/>
            <a:ext cx="5410048" cy="73152"/>
          </a:xfrm>
          <a:prstGeom prst="rect">
            <a:avLst>
              <a:gd name="adj" fmla="val 50000"/>
            </a:avLst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450592"/>
            <a:ext cx="457200" cy="457200"/>
          </a:xfrm>
          <a:prstGeom prst="ellipse">
            <a:avLst/>
          </a:prstGeom>
          <a:solidFill>
            <a:srgbClr val="1A73E8">
              <a:alpha val="25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50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468880"/>
            <a:ext cx="449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Architect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49528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 app — Gemini sketches a GCP architecture as a live Mermaid diagram, explains it out loud, takes feedback.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8728" y="2194560"/>
            <a:ext cx="5410048" cy="2103120"/>
          </a:xfrm>
          <a:prstGeom prst="rect">
            <a:avLst>
              <a:gd name="adj" fmla="val 5217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2194560"/>
            <a:ext cx="5410048" cy="73152"/>
          </a:xfrm>
          <a:prstGeom prst="rect">
            <a:avLst>
              <a:gd name="adj" fmla="val 50000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07328" y="2450592"/>
            <a:ext cx="457200" cy="457200"/>
          </a:xfrm>
          <a:prstGeom prst="ellipse">
            <a:avLst/>
          </a:prstGeom>
          <a:solidFill>
            <a:srgbClr val="34A853">
              <a:alpha val="25000"/>
            </a:srgbClr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7328" y="2450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55968" y="2468880"/>
            <a:ext cx="449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 · Visual Survey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07328" y="3063240"/>
            <a:ext cx="49528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Camera-on. Vera watches you demonstrate opening a bottle, coaches in real-time, fills a structured report.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572000"/>
            <a:ext cx="5410048" cy="2103120"/>
          </a:xfrm>
          <a:prstGeom prst="rect">
            <a:avLst>
              <a:gd name="adj" fmla="val 5217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572000"/>
            <a:ext cx="5410048" cy="73152"/>
          </a:xfrm>
          <a:prstGeom prst="rect">
            <a:avLst>
              <a:gd name="adj" fmla="val 50000"/>
            </a:avLst>
          </a:prstGeom>
          <a:solidFill>
            <a:srgbClr val="D96570"/>
          </a:solidFill>
          <a:ln w="12700">
            <a:solidFill>
              <a:srgbClr val="D965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828032"/>
            <a:ext cx="457200" cy="457200"/>
          </a:xfrm>
          <a:prstGeom prst="ellipse">
            <a:avLst/>
          </a:prstGeom>
          <a:solidFill>
            <a:srgbClr val="D96570">
              <a:alpha val="25000"/>
            </a:srgbClr>
          </a:solidFill>
          <a:ln w="12700">
            <a:solidFill>
              <a:srgbClr val="D965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828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4846320"/>
            <a:ext cx="449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Gemi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5440680"/>
            <a:ext cx="49528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vibe-coding loop: discovery → architecture → multi-view UI build with AI-generated images → voice-driven edits.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78728" y="4572000"/>
            <a:ext cx="5410048" cy="2103120"/>
          </a:xfrm>
          <a:prstGeom prst="rect">
            <a:avLst>
              <a:gd name="adj" fmla="val 5217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8728" y="4572000"/>
            <a:ext cx="5410048" cy="73152"/>
          </a:xfrm>
          <a:prstGeom prst="rect">
            <a:avLst>
              <a:gd name="adj" fmla="val 50000"/>
            </a:avLst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07328" y="4828032"/>
            <a:ext cx="457200" cy="457200"/>
          </a:xfrm>
          <a:prstGeom prst="ellipse">
            <a:avLst/>
          </a:prstGeom>
          <a:solidFill>
            <a:srgbClr val="FBBC04">
              <a:alpha val="25000"/>
            </a:srgbClr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07328" y="4828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55968" y="4846320"/>
            <a:ext cx="449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Translation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07328" y="5440680"/>
            <a:ext cx="49528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English. Hear Hebrew. 15 languages, streaming both ways with side-by-side transcript.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with Gemini Live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7437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28016" cy="128016"/>
          </a:xfrm>
          <a:prstGeom prst="ellipse">
            <a:avLst/>
          </a:prstGeom>
          <a:solidFill>
            <a:srgbClr val="D96570"/>
          </a:solidFill>
          <a:ln w="12700">
            <a:solidFill>
              <a:srgbClr val="D96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" kern="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demos are </a:t>
            </a:r>
            <a:pPr indent="0" marL="0">
              <a:buNone/>
            </a:pPr>
            <a:r>
              <a:rPr lang="en-US" sz="3800" b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 → text out.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</a:t>
            </a:r>
            <a:pPr indent="0" marL="0">
              <a:buNone/>
            </a:pPr>
            <a:r>
              <a:rPr lang="en-US" sz="3800" b="1" dirty="0">
                <a:solidFill>
                  <a:srgbClr val="D9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 → product out.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743200"/>
            <a:ext cx="1118585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isn't behind a chat window. It holds tool-calls on the Live API that drive React state directly: propose an architecture, write a file, swap a logo, navigate the preview, consult another agent. You speak — the UI changes.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4572000"/>
            <a:ext cx="11185855" cy="1463040"/>
          </a:xfrm>
          <a:prstGeom prst="rect">
            <a:avLst>
              <a:gd name="adj" fmla="val 6250"/>
            </a:avLst>
          </a:prstGeom>
          <a:solidFill>
            <a:srgbClr val="1A2030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4572000"/>
            <a:ext cx="73152" cy="1463040"/>
          </a:xfrm>
          <a:prstGeom prst="rect">
            <a:avLst/>
          </a:prstGeom>
          <a:solidFill>
            <a:srgbClr val="9B72CB"/>
          </a:solidFill>
          <a:ln w="12700">
            <a:solidFill>
              <a:srgbClr val="9B7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66344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flywheel:  microphone → 16 kHz PCM → Live WebSocket → model thinks → speaks back (24 kHz audio) AND emits a function-call → React handler mutates state → UI re-renders → next user utterance.  All round-trip in well under a second.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with Gemini Live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7437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28016" cy="128016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" kern="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WIRED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static frontend. Three model endpoints.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5455768" cy="3200400"/>
          </a:xfrm>
          <a:prstGeom prst="rect">
            <a:avLst>
              <a:gd name="adj" fmla="val 3429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77440"/>
            <a:ext cx="490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Cloud Run + Nginx + static React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49071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6EAF2"/>
                </a:solidFill>
              </a:rPr>
              <a:t>MicCapture — 16 kHz PCM AudioWorklet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6EAF2"/>
                </a:solidFill>
              </a:rPr>
              <a:t>React App — 4 scenarios + tool handlers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6EAF2"/>
                </a:solidFill>
              </a:rPr>
              <a:t>AudioPlayer — 24 kHz playback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6EAF2"/>
                </a:solidFill>
              </a:rPr>
              <a:t>Preview Iframe — multi-view SPA + postMessage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6EAF2"/>
                </a:solidFill>
              </a:rPr>
              <a:t>IndexedDB — project history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3008" y="2194560"/>
            <a:ext cx="5455768" cy="3200400"/>
          </a:xfrm>
          <a:prstGeom prst="rect">
            <a:avLst>
              <a:gd name="adj" fmla="val 3429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7328" y="2377440"/>
            <a:ext cx="490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7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 endpoints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07328" y="2834640"/>
            <a:ext cx="49071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9B72CB"/>
                </a:solidFill>
              </a:rPr>
              <a:t>Gemini Live · WebSocket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4B8"/>
                </a:solidFill>
              </a:rPr>
              <a:t>gemini-3.1-flash-live-preview · voice Puck · he-IL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96570"/>
                </a:solidFill>
              </a:rPr>
              <a:t>Sub-agents · Designer / QA / Developer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4B8"/>
                </a:solidFill>
              </a:rPr>
              <a:t>gemini-3.1-pro-preview · JSON schemas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4A853"/>
                </a:solidFill>
              </a:rPr>
              <a:t>Image generation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4B8"/>
                </a:solidFill>
              </a:rPr>
              <a:t>Nano Banana Pro · Imagen 4 Fast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5577840"/>
            <a:ext cx="11185855" cy="914400"/>
          </a:xfrm>
          <a:prstGeom prst="rect">
            <a:avLst>
              <a:gd name="adj" fmla="val 10000"/>
            </a:avLst>
          </a:prstGeom>
          <a:solidFill>
            <a:srgbClr val="1A2030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5577840"/>
            <a:ext cx="73152" cy="9144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66928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bundler. No backend round-trip. A single Nginx container serves static React + Babel and talks WebSocket to the model — every other capability is a tool-call routed from React state.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with Gemini Live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77437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28016" cy="12801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" kern="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Live = audio in, audio out, </a:t>
            </a:r>
            <a:pPr indent="0" marL="0">
              <a:buNone/>
            </a:pPr>
            <a:r>
              <a:rPr lang="en-US" sz="3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tool-calls.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1118585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34537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A8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propose_architecture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Emit a Mermaid GCP flowchart 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A8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approve_architecture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a version as the chosen 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A8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start_build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 the UI into the 'writing UI…' splash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A8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write_file / update_file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or replace files; each write snapshotted for 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A8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show_preview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 the iframe with the generated index.html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A8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generate_logo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a placeholder token; real image swapped at render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A8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navigate_preview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postMessage into the iframe to switch SPA views by voice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A8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consult_designer / qa / developer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 out to specialist sub-agents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with Gemini Live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77437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28016" cy="128016"/>
          </a:xfrm>
          <a:prstGeom prst="ellipse">
            <a:avLst/>
          </a:prstGeom>
          <a:solidFill>
            <a:srgbClr val="D96570"/>
          </a:solidFill>
          <a:ln w="12700">
            <a:solidFill>
              <a:srgbClr val="D96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" kern="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GEMI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four-phase vibe-coding loop.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2590724" cy="2926080"/>
          </a:xfrm>
          <a:prstGeom prst="rect">
            <a:avLst>
              <a:gd name="adj" fmla="val 4235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03120"/>
            <a:ext cx="2590724" cy="73152"/>
          </a:xfrm>
          <a:prstGeom prst="rect">
            <a:avLst>
              <a:gd name="adj" fmla="val 50000"/>
            </a:avLst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31720"/>
            <a:ext cx="22249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22249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2249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Ask, don't assume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520440"/>
            <a:ext cx="22249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 asks 3–4 short Hebrew questions: what app, who's it for, what scale, what data.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67964" y="2103120"/>
            <a:ext cx="2590724" cy="2926080"/>
          </a:xfrm>
          <a:prstGeom prst="rect">
            <a:avLst>
              <a:gd name="adj" fmla="val 4235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7964" y="2103120"/>
            <a:ext cx="2590724" cy="73152"/>
          </a:xfrm>
          <a:prstGeom prst="rect">
            <a:avLst>
              <a:gd name="adj" fmla="val 50000"/>
            </a:avLst>
          </a:prstGeom>
          <a:solidFill>
            <a:srgbClr val="9B72CB"/>
          </a:solidFill>
          <a:ln w="12700">
            <a:solidFill>
              <a:srgbClr val="9B7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0844" y="2331720"/>
            <a:ext cx="22249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9B7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50844" y="2606040"/>
            <a:ext cx="22249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50844" y="3063240"/>
            <a:ext cx="22249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on GCP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50844" y="3520440"/>
            <a:ext cx="22249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flowchart of 5–9 GCP services with themed shapes. Variants on demand; approve by voice.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3008" y="2103120"/>
            <a:ext cx="2590724" cy="2926080"/>
          </a:xfrm>
          <a:prstGeom prst="rect">
            <a:avLst>
              <a:gd name="adj" fmla="val 4235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3008" y="2103120"/>
            <a:ext cx="2590724" cy="73152"/>
          </a:xfrm>
          <a:prstGeom prst="rect">
            <a:avLst>
              <a:gd name="adj" fmla="val 50000"/>
            </a:avLst>
          </a:prstGeom>
          <a:solidFill>
            <a:srgbClr val="D96570"/>
          </a:solidFill>
          <a:ln w="12700">
            <a:solidFill>
              <a:srgbClr val="D965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5888" y="2331720"/>
            <a:ext cx="22249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D9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15888" y="2606040"/>
            <a:ext cx="22249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Build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15888" y="3063240"/>
            <a:ext cx="22249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· Logos · Code · QA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15888" y="3520440"/>
            <a:ext cx="22249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 Designer, generate logo + content imagery with Nano Banana, write one self-contained index.html, run QA.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98051" y="2103120"/>
            <a:ext cx="2590724" cy="2926080"/>
          </a:xfrm>
          <a:prstGeom prst="rect">
            <a:avLst>
              <a:gd name="adj" fmla="val 4235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98051" y="2103120"/>
            <a:ext cx="2590724" cy="73152"/>
          </a:xfrm>
          <a:prstGeom prst="rect">
            <a:avLst>
              <a:gd name="adj" fmla="val 50000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0931" y="2331720"/>
            <a:ext cx="22249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280931" y="2606040"/>
            <a:ext cx="22249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Edits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80931" y="3063240"/>
            <a:ext cx="22249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ship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280931" y="3520440"/>
            <a:ext cx="22249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'Make it darker.' 'Add a CTA.' 'Show settings.' Designer + QA + Developer agents loop in; preview re-renders live.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5486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1A2030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5486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Hebrew-locked voice · languageCode: "he-IL"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06240" y="5486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1A2030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0" y="5486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Auto-saved projects · localStorage history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09560" y="5486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1A2030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09560" y="5486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hidden by default · click to expand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with Gemini Live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77437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28016" cy="128016"/>
          </a:xfrm>
          <a:prstGeom prst="ellipse">
            <a:avLst/>
          </a:prstGeom>
          <a:solidFill>
            <a:srgbClr val="D96570"/>
          </a:solidFill>
          <a:ln w="12700">
            <a:solidFill>
              <a:srgbClr val="D96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" kern="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specialists. One conversation.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3484778" cy="2926080"/>
          </a:xfrm>
          <a:prstGeom prst="rect">
            <a:avLst>
              <a:gd name="adj" fmla="val 3750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03120"/>
            <a:ext cx="3484778" cy="73152"/>
          </a:xfrm>
          <a:prstGeom prst="rect">
            <a:avLst>
              <a:gd name="adj" fmla="val 50000"/>
            </a:avLst>
          </a:prstGeom>
          <a:solidFill>
            <a:srgbClr val="D96570"/>
          </a:solidFill>
          <a:ln w="12700">
            <a:solidFill>
              <a:srgbClr val="D965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377440"/>
            <a:ext cx="548640" cy="548640"/>
          </a:xfrm>
          <a:prstGeom prst="ellipse">
            <a:avLst/>
          </a:prstGeom>
          <a:solidFill>
            <a:srgbClr val="D96570">
              <a:alpha val="19000"/>
            </a:srgbClr>
          </a:solidFill>
          <a:ln w="12700">
            <a:solidFill>
              <a:srgbClr val="D96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377440"/>
            <a:ext cx="23874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293613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Palette, typography, layout, micro-interactions.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{ palette, typography, recommendations, css_snippet }.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4526280"/>
            <a:ext cx="2936138" cy="320040"/>
          </a:xfrm>
          <a:prstGeom prst="roundRect">
            <a:avLst>
              <a:gd name="adj" fmla="val 17143"/>
            </a:avLst>
          </a:prstGeom>
          <a:solidFill>
            <a:srgbClr val="D96570">
              <a:alpha val="13000"/>
            </a:srgbClr>
          </a:solidFill>
          <a:ln w="6350">
            <a:solidFill>
              <a:srgbClr val="D965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526280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3 + GCP gradients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53458" y="2103120"/>
            <a:ext cx="3484778" cy="2926080"/>
          </a:xfrm>
          <a:prstGeom prst="rect">
            <a:avLst>
              <a:gd name="adj" fmla="val 3750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3458" y="2103120"/>
            <a:ext cx="3484778" cy="73152"/>
          </a:xfrm>
          <a:prstGeom prst="rect">
            <a:avLst>
              <a:gd name="adj" fmla="val 50000"/>
            </a:avLst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7778" y="2377440"/>
            <a:ext cx="548640" cy="548640"/>
          </a:xfrm>
          <a:prstGeom prst="ellipse">
            <a:avLst/>
          </a:prstGeom>
          <a:solidFill>
            <a:srgbClr val="FBBC04">
              <a:alpha val="19000"/>
            </a:srgbClr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7778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13578" y="2377440"/>
            <a:ext cx="23874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27778" y="3108960"/>
            <a:ext cx="293613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HTML for missing elements, broken interactions, a11y issues, UX gaps.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{ issues, ok }.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27778" y="4526280"/>
            <a:ext cx="2936138" cy="320040"/>
          </a:xfrm>
          <a:prstGeom prst="roundRect">
            <a:avLst>
              <a:gd name="adj" fmla="val 17143"/>
            </a:avLst>
          </a:prstGeom>
          <a:solidFill>
            <a:srgbClr val="FBBC04">
              <a:alpha val="13000"/>
            </a:srgbClr>
          </a:solidFill>
          <a:ln w="6350">
            <a:solidFill>
              <a:srgbClr val="FBBC0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7778" y="4526280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show_preview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03997" y="2103120"/>
            <a:ext cx="3484778" cy="2926080"/>
          </a:xfrm>
          <a:prstGeom prst="rect">
            <a:avLst>
              <a:gd name="adj" fmla="val 3750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03997" y="2103120"/>
            <a:ext cx="3484778" cy="73152"/>
          </a:xfrm>
          <a:prstGeom prst="rect">
            <a:avLst>
              <a:gd name="adj" fmla="val 50000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78317" y="2377440"/>
            <a:ext cx="548640" cy="548640"/>
          </a:xfrm>
          <a:prstGeom prst="ellipse">
            <a:avLst/>
          </a:prstGeom>
          <a:solidFill>
            <a:srgbClr val="34A853">
              <a:alpha val="19000"/>
            </a:srgbClr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8317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64117" y="2377440"/>
            <a:ext cx="23874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478317" y="3108960"/>
            <a:ext cx="293613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judgment calls: state machines, fragile patterns, cross-browser risks.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{ approach, code_snippet, considerations, risks }.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78317" y="4526280"/>
            <a:ext cx="2936138" cy="320040"/>
          </a:xfrm>
          <a:prstGeom prst="roundRect">
            <a:avLst>
              <a:gd name="adj" fmla="val 17143"/>
            </a:avLst>
          </a:prstGeom>
          <a:solidFill>
            <a:srgbClr val="34A853">
              <a:alpha val="13000"/>
            </a:srgbClr>
          </a:solidFill>
          <a:ln w="6350">
            <a:solidFill>
              <a:srgbClr val="34A8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78317" y="4526280"/>
            <a:ext cx="29361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non-trivial JS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5577840"/>
            <a:ext cx="11185855" cy="914400"/>
          </a:xfrm>
          <a:prstGeom prst="rect">
            <a:avLst>
              <a:gd name="adj" fmla="val 10000"/>
            </a:avLst>
          </a:prstGeom>
          <a:solidFill>
            <a:srgbClr val="1A2030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5577840"/>
            <a:ext cx="73152" cy="91440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66928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run as gemini-3.1-pro-preview with responseMimeType: "application/json" and a JSON schema. Same model, three system prompts — clean, fast, no infrastructure.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with Gemini Live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77437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28016" cy="128016"/>
          </a:xfrm>
          <a:prstGeom prst="ellipse">
            <a:avLst/>
          </a:prstGeom>
          <a:solidFill>
            <a:srgbClr val="9B72CB"/>
          </a:solidFill>
          <a:ln w="12700">
            <a:solidFill>
              <a:srgbClr val="9B7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" kern="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TALK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as orchestrator. Specialists on demand.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724248" y="2286000"/>
            <a:ext cx="2743200" cy="822960"/>
          </a:xfrm>
          <a:prstGeom prst="roundRect">
            <a:avLst>
              <a:gd name="adj" fmla="val 13333"/>
            </a:avLst>
          </a:prstGeom>
          <a:solidFill>
            <a:srgbClr val="9B72CB">
              <a:alpha val="25000"/>
            </a:srgbClr>
          </a:solidFill>
          <a:ln w="25400">
            <a:solidFill>
              <a:srgbClr val="9B7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24248" y="22860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 · Live API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gemini-3.1-flash-live-preview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657600"/>
            <a:ext cx="5455768" cy="1097280"/>
          </a:xfrm>
          <a:prstGeom prst="rect">
            <a:avLst>
              <a:gd name="adj" fmla="val 8333"/>
            </a:avLst>
          </a:prstGeom>
          <a:solidFill>
            <a:srgbClr val="121822"/>
          </a:solidFill>
          <a:ln w="12700">
            <a:solidFill>
              <a:srgbClr val="D96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49040"/>
            <a:ext cx="499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4998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consult_designer { question, current_html } →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palette, typography, recommendations, css_snippet 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33008" y="3657600"/>
            <a:ext cx="5455768" cy="1097280"/>
          </a:xfrm>
          <a:prstGeom prst="rect">
            <a:avLst>
              <a:gd name="adj" fmla="val 8333"/>
            </a:avLst>
          </a:prstGeom>
          <a:solidFill>
            <a:srgbClr val="121822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1608" y="3749040"/>
            <a:ext cx="499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agent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61608" y="4069080"/>
            <a:ext cx="4998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consult_qa { html } →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issues[], ok 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5029200"/>
            <a:ext cx="5455768" cy="1097280"/>
          </a:xfrm>
          <a:prstGeom prst="rect">
            <a:avLst>
              <a:gd name="adj" fmla="val 8333"/>
            </a:avLst>
          </a:prstGeom>
          <a:solidFill>
            <a:srgbClr val="121822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120640"/>
            <a:ext cx="499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agent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440680"/>
            <a:ext cx="4998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consult_developer { task, current_code } →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approach, snippet, considerations, risks 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5029200"/>
            <a:ext cx="5455768" cy="1097280"/>
          </a:xfrm>
          <a:prstGeom prst="rect">
            <a:avLst>
              <a:gd name="adj" fmla="val 8333"/>
            </a:avLst>
          </a:prstGeom>
          <a:solidFill>
            <a:srgbClr val="121822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1608" y="5120640"/>
            <a:ext cx="499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61608" y="5440680"/>
            <a:ext cx="4998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generate_logo { prompt, style, token_id } →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URL (swapped at render)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with Gemini Live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7437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28016" cy="128016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" kern="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· ADMIN OBSERVABILITY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agents, on Vertex AI Agent Engine.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5410048" cy="2011680"/>
          </a:xfrm>
          <a:prstGeom prst="rect">
            <a:avLst>
              <a:gd name="adj" fmla="val 5455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03120"/>
            <a:ext cx="5410048" cy="73152"/>
          </a:xfrm>
          <a:prstGeom prst="rect">
            <a:avLst>
              <a:gd name="adj" fmla="val 50000"/>
            </a:avLst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59152"/>
            <a:ext cx="457200" cy="457200"/>
          </a:xfrm>
          <a:prstGeom prst="ellipse">
            <a:avLst/>
          </a:prstGeom>
          <a:solidFill>
            <a:srgbClr val="1A73E8">
              <a:alpha val="25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59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377440"/>
            <a:ext cx="449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Google ADK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49528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LlmAgent(name="designer", model="gemini-3.1-pro-preview", instruction=DESIGNER_PROMPT) — same prompt, now a deployable artifact.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8728" y="2103120"/>
            <a:ext cx="5410048" cy="2011680"/>
          </a:xfrm>
          <a:prstGeom prst="rect">
            <a:avLst>
              <a:gd name="adj" fmla="val 5455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2103120"/>
            <a:ext cx="5410048" cy="73152"/>
          </a:xfrm>
          <a:prstGeom prst="rect">
            <a:avLst>
              <a:gd name="adj" fmla="val 50000"/>
            </a:avLst>
          </a:prstGeom>
          <a:solidFill>
            <a:srgbClr val="D96570"/>
          </a:solidFill>
          <a:ln w="12700">
            <a:solidFill>
              <a:srgbClr val="D965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07328" y="2359152"/>
            <a:ext cx="457200" cy="457200"/>
          </a:xfrm>
          <a:prstGeom prst="ellipse">
            <a:avLst/>
          </a:prstGeom>
          <a:solidFill>
            <a:srgbClr val="D96570">
              <a:alpha val="25000"/>
            </a:srgbClr>
          </a:solidFill>
          <a:ln w="12700">
            <a:solidFill>
              <a:srgbClr val="D965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7328" y="2359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55968" y="2377440"/>
            <a:ext cx="449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via Cloud Build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07328" y="2971800"/>
            <a:ext cx="49528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pip in Firebase Studio? No problem. gcloud builds submit agents/ runs the deploy inside python:3.12 and writes deployed_engines.json.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389120"/>
            <a:ext cx="5410048" cy="2011680"/>
          </a:xfrm>
          <a:prstGeom prst="rect">
            <a:avLst>
              <a:gd name="adj" fmla="val 5455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389120"/>
            <a:ext cx="5410048" cy="73152"/>
          </a:xfrm>
          <a:prstGeom prst="rect">
            <a:avLst>
              <a:gd name="adj" fmla="val 50000"/>
            </a:avLst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645152"/>
            <a:ext cx="457200" cy="457200"/>
          </a:xfrm>
          <a:prstGeom prst="ellipse">
            <a:avLst/>
          </a:prstGeom>
          <a:solidFill>
            <a:srgbClr val="FBBC04">
              <a:alpha val="25000"/>
            </a:srgbClr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645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4663440"/>
            <a:ext cx="449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on Cloud Run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5257800"/>
            <a:ext cx="49528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service, ADC creds, fans out to agent_engines.get(...).stream_query(...), streams events as JSON to the browser.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78728" y="4389120"/>
            <a:ext cx="5410048" cy="2011680"/>
          </a:xfrm>
          <a:prstGeom prst="rect">
            <a:avLst>
              <a:gd name="adj" fmla="val 5455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8728" y="4389120"/>
            <a:ext cx="5410048" cy="73152"/>
          </a:xfrm>
          <a:prstGeom prst="rect">
            <a:avLst>
              <a:gd name="adj" fmla="val 50000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07328" y="4645152"/>
            <a:ext cx="457200" cy="457200"/>
          </a:xfrm>
          <a:prstGeom prst="ellipse">
            <a:avLst/>
          </a:prstGeom>
          <a:solidFill>
            <a:srgbClr val="34A853">
              <a:alpha val="25000"/>
            </a:srgbClr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07328" y="4645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55968" y="4663440"/>
            <a:ext cx="449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sessions in console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07328" y="5257800"/>
            <a:ext cx="49528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consult call shows up as a session with user_id, message, full trace tree. The agent activity panel deep-links each card to its Agent Engine session.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with Gemini Live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7437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28016" cy="12801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" kern="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GENERATE_LOGO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over the wire. Bytes at render time.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1118585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Live shouldn't round-trip megabytes of base64 PNG. Instead, generate_logo returns a tiny token string like __ASSET_LOGO__. The model writes that as the &lt;img src&gt;. The host swaps the real data URL in when it builds the iframe srcdoc.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3931920"/>
            <a:ext cx="5410048" cy="1371600"/>
          </a:xfrm>
          <a:prstGeom prst="rect">
            <a:avLst>
              <a:gd name="adj" fmla="val 8000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3931920"/>
            <a:ext cx="5410048" cy="73152"/>
          </a:xfrm>
          <a:prstGeom prst="rect">
            <a:avLst>
              <a:gd name="adj" fmla="val 50000"/>
            </a:avLst>
          </a:prstGeom>
          <a:solidFill>
            <a:srgbClr val="9B72CB"/>
          </a:solidFill>
          <a:ln w="12700">
            <a:solidFill>
              <a:srgbClr val="9B7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206240"/>
            <a:ext cx="449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Banana Pro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800600"/>
            <a:ext cx="4952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nano-banana-pro-preview:generateContent · responseModalities: ["IMAGE"]. Fast, iconic, great for logos and stylized art.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8728" y="3931920"/>
            <a:ext cx="5410048" cy="1371600"/>
          </a:xfrm>
          <a:prstGeom prst="rect">
            <a:avLst>
              <a:gd name="adj" fmla="val 8000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8728" y="3931920"/>
            <a:ext cx="5410048" cy="73152"/>
          </a:xfrm>
          <a:prstGeom prst="rect">
            <a:avLst>
              <a:gd name="adj" fmla="val 50000"/>
            </a:avLst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55968" y="4206240"/>
            <a:ext cx="449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4 Fast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07328" y="4800600"/>
            <a:ext cx="4952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imagen-4.0-fast-generate-001:predict · aspectRatio: "1:1". Photo-real, great for hero shots and product imagery.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5577840"/>
            <a:ext cx="11185855" cy="914400"/>
          </a:xfrm>
          <a:prstGeom prst="rect">
            <a:avLst>
              <a:gd name="adj" fmla="val 10000"/>
            </a:avLst>
          </a:prstGeom>
          <a:solidFill>
            <a:srgbClr val="1A2030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5577840"/>
            <a:ext cx="73152" cy="91440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66928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Last-resort: any &lt;img&gt; that fails to load (dead URL, unsubstituted placeholder) auto-swaps to picsum.photos/seed/&lt;alt&gt;/W/H — so the prototype never shows a broken image on stage.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with Gemini Live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7437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28016" cy="128016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" kern="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TO THE RUNNING APP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navigates the preview. Without rewriting code.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194560"/>
            <a:ext cx="111858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apps are required to be multi-view SPAs: every screen is a &lt;section data-view="..."&gt; and a global window.showView(name) swaps them.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3383280"/>
            <a:ext cx="11185855" cy="1828800"/>
          </a:xfrm>
          <a:prstGeom prst="rect">
            <a:avLst>
              <a:gd name="adj" fmla="val 5000"/>
            </a:avLst>
          </a:prstGeom>
          <a:solidFill>
            <a:srgbClr val="1A2030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1063721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every generated index.html: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window.addEventListener('message', (e) =&gt;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(e.data?.type === 'navigate') window.showView(e.data.view, e.data.params);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if (e.data?.type === 'back') window.goBack();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 the host: navigate_preview tool-call →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previewIframe.contentWindow.postMessage(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type: 'navigate', view: 'settings' }, '*'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5486400"/>
            <a:ext cx="11185855" cy="914400"/>
          </a:xfrm>
          <a:prstGeom prst="rect">
            <a:avLst>
              <a:gd name="adj" fmla="val 10000"/>
            </a:avLst>
          </a:prstGeom>
          <a:solidFill>
            <a:srgbClr val="1A2030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5486400"/>
            <a:ext cx="73152" cy="914400"/>
          </a:xfrm>
          <a:prstGeom prst="rect">
            <a:avLst/>
          </a:prstGeom>
          <a:solidFill>
            <a:srgbClr val="9B72CB"/>
          </a:solidFill>
          <a:ln w="12700">
            <a:solidFill>
              <a:srgbClr val="9B7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57784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"show me the dashboard." Gemi emits navigate_preview({view: "dashboard"}). The host postMessages into the iframe. Zero re-renders, no file rewrites, sub-100ms.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with Gemini Live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7437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28016" cy="128016"/>
          </a:xfrm>
          <a:prstGeom prst="ellipse">
            <a:avLst/>
          </a:prstGeom>
          <a:solidFill>
            <a:srgbClr val="D96570"/>
          </a:solidFill>
          <a:ln w="12700">
            <a:solidFill>
              <a:srgbClr val="D96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" kern="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POLISH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since last week.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5410048" cy="2011680"/>
          </a:xfrm>
          <a:prstGeom prst="rect">
            <a:avLst>
              <a:gd name="adj" fmla="val 5455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94560"/>
            <a:ext cx="5410048" cy="73152"/>
          </a:xfrm>
          <a:prstGeom prst="rect">
            <a:avLst>
              <a:gd name="adj" fmla="val 50000"/>
            </a:avLst>
          </a:prstGeom>
          <a:solidFill>
            <a:srgbClr val="D96570"/>
          </a:solidFill>
          <a:ln w="12700">
            <a:solidFill>
              <a:srgbClr val="D965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450592"/>
            <a:ext cx="457200" cy="457200"/>
          </a:xfrm>
          <a:prstGeom prst="ellipse">
            <a:avLst/>
          </a:prstGeom>
          <a:solidFill>
            <a:srgbClr val="D96570">
              <a:alpha val="25000"/>
            </a:srgbClr>
          </a:solidFill>
          <a:ln w="12700">
            <a:solidFill>
              <a:srgbClr val="D96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50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468880"/>
            <a:ext cx="449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Hebrew-locked voice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49528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you speak English, Gemi always replies in Hebrew. languageCode: "he-IL" on the Live API + a hard rule in the system prompt.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8728" y="2194560"/>
            <a:ext cx="5410048" cy="2011680"/>
          </a:xfrm>
          <a:prstGeom prst="rect">
            <a:avLst>
              <a:gd name="adj" fmla="val 5455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2194560"/>
            <a:ext cx="5410048" cy="73152"/>
          </a:xfrm>
          <a:prstGeom prst="rect">
            <a:avLst>
              <a:gd name="adj" fmla="val 50000"/>
            </a:avLst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07328" y="2450592"/>
            <a:ext cx="457200" cy="457200"/>
          </a:xfrm>
          <a:prstGeom prst="ellipse">
            <a:avLst/>
          </a:prstGeom>
          <a:solidFill>
            <a:srgbClr val="1A73E8">
              <a:alpha val="25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7328" y="2450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55968" y="2468880"/>
            <a:ext cx="449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hidden by default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07328" y="3063240"/>
            <a:ext cx="49528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Auto-transcripts are noisy on stage. The Pair-with-Gemi panel collapses them under one click.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480560"/>
            <a:ext cx="5410048" cy="2011680"/>
          </a:xfrm>
          <a:prstGeom prst="rect">
            <a:avLst>
              <a:gd name="adj" fmla="val 5455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480560"/>
            <a:ext cx="5410048" cy="73152"/>
          </a:xfrm>
          <a:prstGeom prst="rect">
            <a:avLst>
              <a:gd name="adj" fmla="val 50000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736592"/>
            <a:ext cx="457200" cy="457200"/>
          </a:xfrm>
          <a:prstGeom prst="ellipse">
            <a:avLst/>
          </a:prstGeom>
          <a:solidFill>
            <a:srgbClr val="34A853">
              <a:alpha val="25000"/>
            </a:srgbClr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736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4754880"/>
            <a:ext cx="449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auto-save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5349240"/>
            <a:ext cx="49528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generated project is named, dated, and persisted to localStorage. The Projects button in the AppBar loads them back instantly.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78728" y="4480560"/>
            <a:ext cx="5410048" cy="2011680"/>
          </a:xfrm>
          <a:prstGeom prst="rect">
            <a:avLst>
              <a:gd name="adj" fmla="val 5455"/>
            </a:avLst>
          </a:prstGeom>
          <a:solidFill>
            <a:srgbClr val="121822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8728" y="4480560"/>
            <a:ext cx="5410048" cy="73152"/>
          </a:xfrm>
          <a:prstGeom prst="rect">
            <a:avLst>
              <a:gd name="adj" fmla="val 50000"/>
            </a:avLst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07328" y="4736592"/>
            <a:ext cx="457200" cy="457200"/>
          </a:xfrm>
          <a:prstGeom prst="ellipse">
            <a:avLst/>
          </a:prstGeom>
          <a:solidFill>
            <a:srgbClr val="FBBC04">
              <a:alpha val="25000"/>
            </a:srgbClr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07328" y="4736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55968" y="4754880"/>
            <a:ext cx="449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speech triggers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07328" y="5349240"/>
            <a:ext cx="49528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 MUST announce 'האפליקציה שלך מוכנה!' after show_preview and confirm every update_file — no more silent gaps.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with Gemini Live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7437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28016" cy="12801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" kern="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 on purpose.</a:t>
            </a:r>
            <a:endParaRPr lang="en-US" sz="3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11680"/>
          <a:ext cx="1118585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98545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HTML + React 18 + in-browser Babel (no bundler, no build step)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conversation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gemini-3.1-flash-live-preview · WebSocket · voice 'Puck'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Sub-agents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gemini-3.1-pro-preview · responseMimeType: application/json · JSON schemas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nano-banana-pro-preview · imagen-4.0-fast-generate-001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AudioWorklet @ 16 kHz capture · queued AudioBufferSource @ 24 kHz playback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Mermaid with GCP-themed classDefs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Run · Nginx serving static assets · gcloud run deploy --source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ADK + Vertex AI Agent Engine + FastAPI proxy on Cloud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with Gemini Live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77437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28016" cy="12801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" kern="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1118585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let's talk to it.</a:t>
            </a:r>
            <a:endParaRPr lang="en-US" sz="7600" dirty="0"/>
          </a:p>
        </p:txBody>
      </p:sp>
      <p:sp>
        <p:nvSpPr>
          <p:cNvPr id="5" name="Text 3">
            <a:hlinkClick r:id="rId1" tooltip="Open the live demo"/>
          </p:cNvPr>
          <p:cNvSpPr/>
          <p:nvPr/>
        </p:nvSpPr>
        <p:spPr>
          <a:xfrm>
            <a:off x="502920" y="3657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u="sng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Open the live dem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googlive-1069070785804.us-central1.run.app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594360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· github.com/moshem-a/vibe-coding-with-gemini-live      ·      Built by Moshe · Google Cloud Summit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with Gemini Live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7437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with Gemini Live</dc:title>
  <dc:subject>PptxGenJS Presentation</dc:subject>
  <dc:creator>Moshe</dc:creator>
  <cp:lastModifiedBy>Moshe</cp:lastModifiedBy>
  <cp:revision>1</cp:revision>
  <dcterms:created xsi:type="dcterms:W3CDTF">2026-05-19T15:18:40Z</dcterms:created>
  <dcterms:modified xsi:type="dcterms:W3CDTF">2026-05-19T15:18:40Z</dcterms:modified>
</cp:coreProperties>
</file>